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77" r:id="rId3"/>
    <p:sldId id="260" r:id="rId4"/>
    <p:sldId id="269" r:id="rId5"/>
    <p:sldId id="261" r:id="rId6"/>
    <p:sldId id="262" r:id="rId7"/>
    <p:sldId id="264" r:id="rId8"/>
    <p:sldId id="275" r:id="rId9"/>
    <p:sldId id="276" r:id="rId10"/>
    <p:sldId id="263" r:id="rId11"/>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721" autoAdjust="0"/>
  </p:normalViewPr>
  <p:slideViewPr>
    <p:cSldViewPr>
      <p:cViewPr varScale="1">
        <p:scale>
          <a:sx n="87" d="100"/>
          <a:sy n="87" d="100"/>
        </p:scale>
        <p:origin x="222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488"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7000" y="0"/>
            <a:ext cx="3011488" cy="461963"/>
          </a:xfrm>
          <a:prstGeom prst="rect">
            <a:avLst/>
          </a:prstGeom>
        </p:spPr>
        <p:txBody>
          <a:bodyPr vert="horz" lIns="91440" tIns="45720" rIns="91440" bIns="45720" rtlCol="0"/>
          <a:lstStyle>
            <a:lvl1pPr algn="r">
              <a:defRPr sz="1200"/>
            </a:lvl1pPr>
          </a:lstStyle>
          <a:p>
            <a:fld id="{1817C0AC-263F-4407-891B-D9449531353D}" type="datetimeFigureOut">
              <a:rPr lang="en-US" smtClean="0"/>
              <a:t>8/28/2019</a:t>
            </a:fld>
            <a:endParaRPr lang="en-US"/>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387850"/>
            <a:ext cx="5559425" cy="415607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72525"/>
            <a:ext cx="3011488" cy="4619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7000" y="8772525"/>
            <a:ext cx="3011488" cy="461963"/>
          </a:xfrm>
          <a:prstGeom prst="rect">
            <a:avLst/>
          </a:prstGeom>
        </p:spPr>
        <p:txBody>
          <a:bodyPr vert="horz" lIns="91440" tIns="45720" rIns="91440" bIns="45720" rtlCol="0" anchor="b"/>
          <a:lstStyle>
            <a:lvl1pPr algn="r">
              <a:defRPr sz="1200"/>
            </a:lvl1pPr>
          </a:lstStyle>
          <a:p>
            <a:fld id="{8C8102B2-E405-4566-A9EF-AD98783D444F}" type="slidenum">
              <a:rPr lang="en-US" smtClean="0"/>
              <a:t>‹#›</a:t>
            </a:fld>
            <a:endParaRPr lang="en-US"/>
          </a:p>
        </p:txBody>
      </p:sp>
    </p:spTree>
    <p:extLst>
      <p:ext uri="{BB962C8B-B14F-4D97-AF65-F5344CB8AC3E}">
        <p14:creationId xmlns:p14="http://schemas.microsoft.com/office/powerpoint/2010/main" val="448064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Today I will provide a brief overview of a special publication that a working group of experts</a:t>
            </a:r>
            <a:r>
              <a:rPr lang="en-US" baseline="0" dirty="0" smtClean="0"/>
              <a:t> on artificial intelligence and its use in health care have been working on for the past year.</a:t>
            </a:r>
          </a:p>
          <a:p>
            <a:endParaRPr lang="en-US" baseline="0" dirty="0" smtClean="0"/>
          </a:p>
          <a:p>
            <a:r>
              <a:rPr lang="en-US" baseline="0" dirty="0" smtClean="0"/>
              <a:t>Thank Michael and Sonoo for joining by phone.</a:t>
            </a:r>
            <a:endParaRPr lang="en-US" dirty="0"/>
          </a:p>
        </p:txBody>
      </p:sp>
      <p:sp>
        <p:nvSpPr>
          <p:cNvPr id="4" name="Slide Number Placeholder 3"/>
          <p:cNvSpPr>
            <a:spLocks noGrp="1"/>
          </p:cNvSpPr>
          <p:nvPr>
            <p:ph type="sldNum" sz="quarter" idx="10"/>
          </p:nvPr>
        </p:nvSpPr>
        <p:spPr/>
        <p:txBody>
          <a:bodyPr/>
          <a:lstStyle/>
          <a:p>
            <a:fld id="{8C8102B2-E405-4566-A9EF-AD98783D444F}" type="slidenum">
              <a:rPr lang="en-US" smtClean="0"/>
              <a:t>1</a:t>
            </a:fld>
            <a:endParaRPr lang="en-US"/>
          </a:p>
        </p:txBody>
      </p:sp>
    </p:spTree>
    <p:extLst>
      <p:ext uri="{BB962C8B-B14F-4D97-AF65-F5344CB8AC3E}">
        <p14:creationId xmlns:p14="http://schemas.microsoft.com/office/powerpoint/2010/main" val="2237194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2017,</a:t>
            </a:r>
            <a:r>
              <a:rPr lang="en-US" baseline="0" dirty="0" smtClean="0"/>
              <a:t> participants in the DLC identified issues related to the introduction of ML algorithms into health care as an important priority so on November 30, 2017, the NAM hosted a meeting to consider…</a:t>
            </a:r>
          </a:p>
          <a:p>
            <a:endParaRPr lang="en-US" baseline="0" dirty="0" smtClean="0"/>
          </a:p>
          <a:p>
            <a:endParaRPr lang="en-US" baseline="0" dirty="0" smtClean="0"/>
          </a:p>
          <a:p>
            <a:r>
              <a:rPr lang="en-US" baseline="0" dirty="0" smtClean="0"/>
              <a:t>By the end of the meeting, the participants had identified the following as the major barriers to the routine use of ML algorithms in HC settings and the participants called for the formation of a working group to continue to address these issues.</a:t>
            </a:r>
            <a:endParaRPr lang="en-US" dirty="0"/>
          </a:p>
        </p:txBody>
      </p:sp>
    </p:spTree>
    <p:extLst>
      <p:ext uri="{BB962C8B-B14F-4D97-AF65-F5344CB8AC3E}">
        <p14:creationId xmlns:p14="http://schemas.microsoft.com/office/powerpoint/2010/main" val="3582979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early 2018, we formed the working</a:t>
            </a:r>
            <a:r>
              <a:rPr lang="en-US" baseline="0" dirty="0" smtClean="0"/>
              <a:t> group, whose goal was to…</a:t>
            </a:r>
            <a:endParaRPr lang="en-US" dirty="0"/>
          </a:p>
        </p:txBody>
      </p:sp>
    </p:spTree>
    <p:extLst>
      <p:ext uri="{BB962C8B-B14F-4D97-AF65-F5344CB8AC3E}">
        <p14:creationId xmlns:p14="http://schemas.microsoft.com/office/powerpoint/2010/main" val="43409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Hard to read but I will provide</a:t>
            </a:r>
            <a:r>
              <a:rPr lang="en-US" baseline="0" dirty="0" smtClean="0"/>
              <a:t> a copy of the slides if you would like to take a closer look.</a:t>
            </a:r>
          </a:p>
          <a:p>
            <a:endParaRPr lang="en-US" baseline="0" dirty="0" smtClean="0"/>
          </a:p>
          <a:p>
            <a:r>
              <a:rPr lang="en-US" baseline="0" dirty="0" smtClean="0"/>
              <a:t>The working group is co-chaired by Michael Matheny from Vanderbilt and Sonoo Thadaney from Stanford</a:t>
            </a:r>
            <a:endParaRPr lang="en-US" dirty="0"/>
          </a:p>
        </p:txBody>
      </p:sp>
    </p:spTree>
    <p:extLst>
      <p:ext uri="{BB962C8B-B14F-4D97-AF65-F5344CB8AC3E}">
        <p14:creationId xmlns:p14="http://schemas.microsoft.com/office/powerpoint/2010/main" val="516729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Early</a:t>
            </a:r>
            <a:r>
              <a:rPr lang="en-US" baseline="0" dirty="0" smtClean="0"/>
              <a:t> on in there deliberations the working group decided that the best way to begin to approach the barriers identified was to develop a reference document…</a:t>
            </a:r>
          </a:p>
          <a:p>
            <a:endParaRPr lang="en-US" baseline="0" dirty="0" smtClean="0"/>
          </a:p>
          <a:p>
            <a:r>
              <a:rPr lang="en-US" baseline="0" dirty="0" smtClean="0"/>
              <a:t>And the group has been working and meeting monthly by phone to develop the publication. </a:t>
            </a:r>
            <a:endParaRPr lang="en-US" dirty="0"/>
          </a:p>
        </p:txBody>
      </p:sp>
    </p:spTree>
    <p:extLst>
      <p:ext uri="{BB962C8B-B14F-4D97-AF65-F5344CB8AC3E}">
        <p14:creationId xmlns:p14="http://schemas.microsoft.com/office/powerpoint/2010/main" val="2320560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here is an overview of the way the publication is organized</a:t>
            </a:r>
            <a:endParaRPr lang="en-US" dirty="0"/>
          </a:p>
        </p:txBody>
      </p:sp>
    </p:spTree>
    <p:extLst>
      <p:ext uri="{BB962C8B-B14F-4D97-AF65-F5344CB8AC3E}">
        <p14:creationId xmlns:p14="http://schemas.microsoft.com/office/powerpoint/2010/main" val="1000077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are including all of the following </a:t>
            </a:r>
            <a:endParaRPr lang="en-US" dirty="0"/>
          </a:p>
        </p:txBody>
      </p:sp>
    </p:spTree>
    <p:extLst>
      <p:ext uri="{BB962C8B-B14F-4D97-AF65-F5344CB8AC3E}">
        <p14:creationId xmlns:p14="http://schemas.microsoft.com/office/powerpoint/2010/main" val="299059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Ask Michael if he has anything</a:t>
            </a:r>
            <a:r>
              <a:rPr lang="en-US" baseline="0" dirty="0" smtClean="0"/>
              <a:t> to add before </a:t>
            </a:r>
            <a:r>
              <a:rPr lang="en-US" baseline="0" smtClean="0"/>
              <a:t>the discussion!</a:t>
            </a:r>
            <a:endParaRPr lang="en-US" dirty="0"/>
          </a:p>
        </p:txBody>
      </p:sp>
    </p:spTree>
    <p:extLst>
      <p:ext uri="{BB962C8B-B14F-4D97-AF65-F5344CB8AC3E}">
        <p14:creationId xmlns:p14="http://schemas.microsoft.com/office/powerpoint/2010/main" val="1717969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49963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4866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87D5E5-4134-41F0-99D5-3D0B23207409}" type="datetimeFigureOut">
              <a:rPr lang="en-US" smtClean="0"/>
              <a:t>8/28/2019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253048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87D5E5-4134-41F0-99D5-3D0B23207409}" type="datetimeFigureOut">
              <a:rPr lang="en-US" smtClean="0"/>
              <a:t>8/28/2019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1812567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87D5E5-4134-41F0-99D5-3D0B23207409}" type="datetimeFigureOut">
              <a:rPr lang="en-US" smtClean="0"/>
              <a:t>8/28/2019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3884298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87D5E5-4134-41F0-99D5-3D0B23207409}" type="datetimeFigureOut">
              <a:rPr lang="en-US" smtClean="0"/>
              <a:t>8/28/2019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280299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87D5E5-4134-41F0-99D5-3D0B23207409}" type="datetimeFigureOut">
              <a:rPr lang="en-US" smtClean="0"/>
              <a:t>8/28/2019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71777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87D5E5-4134-41F0-99D5-3D0B23207409}" type="datetimeFigureOut">
              <a:rPr lang="en-US" smtClean="0"/>
              <a:t>8/28/2019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3385271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87D5E5-4134-41F0-99D5-3D0B23207409}" type="datetimeFigureOut">
              <a:rPr lang="en-US" smtClean="0"/>
              <a:t>8/28/2019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1640035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87D5E5-4134-41F0-99D5-3D0B23207409}" type="datetimeFigureOut">
              <a:rPr lang="en-US" smtClean="0"/>
              <a:t>8/28/2019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259819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87D5E5-4134-41F0-99D5-3D0B23207409}" type="datetimeFigureOut">
              <a:rPr lang="en-US" smtClean="0"/>
              <a:t>8/28/2019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3625054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87D5E5-4134-41F0-99D5-3D0B23207409}" type="datetimeFigureOut">
              <a:rPr lang="en-US" smtClean="0"/>
              <a:t>8/28/2019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1275435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87D5E5-4134-41F0-99D5-3D0B23207409}" type="datetimeFigureOut">
              <a:rPr lang="en-US" smtClean="0"/>
              <a:t>8/28/2019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949DF-2353-473C-9AF5-AB2CAFA518B6}" type="slidenum">
              <a:rPr lang="en-US" smtClean="0"/>
              <a:t>‹#›</a:t>
            </a:fld>
            <a:endParaRPr lang="en-US"/>
          </a:p>
        </p:txBody>
      </p:sp>
    </p:spTree>
    <p:extLst>
      <p:ext uri="{BB962C8B-B14F-4D97-AF65-F5344CB8AC3E}">
        <p14:creationId xmlns:p14="http://schemas.microsoft.com/office/powerpoint/2010/main" val="3425699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87D5E5-4134-41F0-99D5-3D0B23207409}" type="datetimeFigureOut">
              <a:rPr lang="en-US" smtClean="0"/>
              <a:t>8/28/2019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A949DF-2353-473C-9AF5-AB2CAFA518B6}" type="slidenum">
              <a:rPr lang="en-US" smtClean="0"/>
              <a:t>‹#›</a:t>
            </a:fld>
            <a:endParaRPr lang="en-US"/>
          </a:p>
        </p:txBody>
      </p:sp>
    </p:spTree>
    <p:extLst>
      <p:ext uri="{BB962C8B-B14F-4D97-AF65-F5344CB8AC3E}">
        <p14:creationId xmlns:p14="http://schemas.microsoft.com/office/powerpoint/2010/main" val="2099948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nam.edu/event/digital-learning-collaborative-4/" TargetMode="Externa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199" y="1066800"/>
            <a:ext cx="8986836" cy="990600"/>
          </a:xfrm>
        </p:spPr>
        <p:txBody>
          <a:bodyPr>
            <a:noAutofit/>
          </a:bodyPr>
          <a:lstStyle/>
          <a:p>
            <a:r>
              <a:rPr lang="en-US" sz="3500" b="1" cap="small" dirty="0" smtClean="0">
                <a:latin typeface="Garamond" panose="02020404030301010803" pitchFamily="18" charset="0"/>
              </a:rPr>
              <a:t/>
            </a:r>
            <a:br>
              <a:rPr lang="en-US" sz="3500" b="1" cap="small" dirty="0" smtClean="0">
                <a:latin typeface="Garamond" panose="02020404030301010803" pitchFamily="18" charset="0"/>
              </a:rPr>
            </a:br>
            <a:r>
              <a:rPr lang="en-US" sz="3500" b="1" cap="small" dirty="0" smtClean="0">
                <a:latin typeface="Garamond" panose="02020404030301010803" pitchFamily="18" charset="0"/>
              </a:rPr>
              <a:t/>
            </a:r>
            <a:br>
              <a:rPr lang="en-US" sz="3500" b="1" cap="small" dirty="0" smtClean="0">
                <a:latin typeface="Garamond" panose="02020404030301010803" pitchFamily="18" charset="0"/>
              </a:rPr>
            </a:br>
            <a:r>
              <a:rPr lang="en-US" sz="3500" b="1" cap="small" dirty="0" smtClean="0">
                <a:latin typeface="Garamond" panose="02020404030301010803" pitchFamily="18" charset="0"/>
              </a:rPr>
              <a:t/>
            </a:r>
            <a:br>
              <a:rPr lang="en-US" sz="3500" b="1" cap="small" dirty="0" smtClean="0">
                <a:latin typeface="Garamond" panose="02020404030301010803" pitchFamily="18" charset="0"/>
              </a:rPr>
            </a:br>
            <a:r>
              <a:rPr lang="en-US" sz="3200" b="1" dirty="0">
                <a:latin typeface="Garamond" panose="02020404030301010803" pitchFamily="18" charset="0"/>
              </a:rPr>
              <a:t>AI and the Future of Continuous Health Learning &amp; Improvement</a:t>
            </a:r>
            <a:r>
              <a:rPr lang="en-US" sz="2800" b="1" dirty="0" smtClean="0">
                <a:latin typeface="Garamond" panose="02020404030301010803" pitchFamily="18" charset="0"/>
              </a:rPr>
              <a:t>: </a:t>
            </a:r>
            <a:br>
              <a:rPr lang="en-US" sz="2800" b="1" dirty="0" smtClean="0">
                <a:latin typeface="Garamond" panose="02020404030301010803" pitchFamily="18" charset="0"/>
              </a:rPr>
            </a:br>
            <a:r>
              <a:rPr lang="en-US" sz="2400" b="1" dirty="0" smtClean="0">
                <a:latin typeface="Garamond" panose="02020404030301010803" pitchFamily="18" charset="0"/>
              </a:rPr>
              <a:t>A publication of the NAM </a:t>
            </a:r>
            <a:r>
              <a:rPr lang="en-US" sz="2400" b="1" cap="small" dirty="0" smtClean="0">
                <a:latin typeface="Garamond" panose="02020404030301010803" pitchFamily="18" charset="0"/>
              </a:rPr>
              <a:t>Digital Learning </a:t>
            </a:r>
            <a:br>
              <a:rPr lang="en-US" sz="2400" b="1" cap="small" dirty="0" smtClean="0">
                <a:latin typeface="Garamond" panose="02020404030301010803" pitchFamily="18" charset="0"/>
              </a:rPr>
            </a:br>
            <a:r>
              <a:rPr lang="en-US" sz="2400" b="1" cap="small" dirty="0" smtClean="0">
                <a:latin typeface="Garamond" panose="02020404030301010803" pitchFamily="18" charset="0"/>
              </a:rPr>
              <a:t>Collaborative</a:t>
            </a:r>
          </a:p>
        </p:txBody>
      </p:sp>
      <p:sp>
        <p:nvSpPr>
          <p:cNvPr id="3" name="Subtitle 2"/>
          <p:cNvSpPr>
            <a:spLocks noGrp="1"/>
          </p:cNvSpPr>
          <p:nvPr>
            <p:ph type="subTitle" idx="1"/>
          </p:nvPr>
        </p:nvSpPr>
        <p:spPr>
          <a:xfrm>
            <a:off x="78581" y="4086879"/>
            <a:ext cx="8991600" cy="266700"/>
          </a:xfrm>
        </p:spPr>
        <p:txBody>
          <a:bodyPr>
            <a:normAutofit fontScale="25000" lnSpcReduction="20000"/>
          </a:bodyPr>
          <a:lstStyle/>
          <a:p>
            <a:endParaRPr lang="en-US" sz="2000" b="1" cap="small" dirty="0" smtClean="0">
              <a:solidFill>
                <a:schemeClr val="tx1"/>
              </a:solidFill>
              <a:latin typeface="Garamond" panose="02020404030301010803" pitchFamily="18" charset="0"/>
            </a:endParaRPr>
          </a:p>
          <a:p>
            <a:endParaRPr lang="en-US" sz="2000" b="1" cap="small" dirty="0">
              <a:solidFill>
                <a:schemeClr val="tx1"/>
              </a:solidFill>
              <a:latin typeface="Garamond" panose="02020404030301010803" pitchFamily="18" charset="0"/>
            </a:endParaRPr>
          </a:p>
          <a:p>
            <a:r>
              <a:rPr lang="en-US" sz="7200" b="1" cap="small" dirty="0" smtClean="0">
                <a:solidFill>
                  <a:schemeClr val="tx1"/>
                </a:solidFill>
                <a:latin typeface="Garamond" panose="02020404030301010803" pitchFamily="18" charset="0"/>
              </a:rPr>
              <a:t>Leadership </a:t>
            </a:r>
            <a:r>
              <a:rPr lang="en-US" sz="7200" b="1" cap="small" dirty="0">
                <a:solidFill>
                  <a:schemeClr val="tx1"/>
                </a:solidFill>
                <a:latin typeface="Garamond" panose="02020404030301010803" pitchFamily="18" charset="0"/>
              </a:rPr>
              <a:t>Consortium for a Value &amp; Science-Driven Health </a:t>
            </a:r>
            <a:r>
              <a:rPr lang="en-US" sz="7200" b="1" cap="small" dirty="0" smtClean="0">
                <a:solidFill>
                  <a:schemeClr val="tx1"/>
                </a:solidFill>
                <a:latin typeface="Garamond" panose="02020404030301010803" pitchFamily="18" charset="0"/>
              </a:rPr>
              <a:t>System</a:t>
            </a:r>
          </a:p>
          <a:p>
            <a:r>
              <a:rPr lang="en-US" sz="6400" b="1" i="1" cap="small" dirty="0" smtClean="0">
                <a:solidFill>
                  <a:schemeClr val="accent6">
                    <a:lumMod val="75000"/>
                  </a:schemeClr>
                </a:solidFill>
                <a:latin typeface="Garamond" panose="02020404030301010803" pitchFamily="18" charset="0"/>
              </a:rPr>
              <a:t>Advancing the Learning Health System</a:t>
            </a:r>
          </a:p>
          <a:p>
            <a:pPr>
              <a:defRPr/>
            </a:pPr>
            <a:endParaRPr lang="en-US" sz="3600" dirty="0"/>
          </a:p>
          <a:p>
            <a:pPr>
              <a:defRPr/>
            </a:pPr>
            <a:r>
              <a:rPr lang="en-US" sz="3600" dirty="0" smtClean="0"/>
              <a:t> </a:t>
            </a:r>
            <a:r>
              <a:rPr lang="en-US" sz="3600" dirty="0"/>
              <a:t>Vision </a:t>
            </a:r>
            <a:r>
              <a:rPr lang="en-US" sz="3600" dirty="0">
                <a:sym typeface="Wingdings"/>
              </a:rPr>
              <a:t></a:t>
            </a:r>
            <a:r>
              <a:rPr lang="en-US" sz="3600" dirty="0"/>
              <a:t> Research </a:t>
            </a:r>
            <a:r>
              <a:rPr lang="en-US" sz="3600" dirty="0">
                <a:sym typeface="Wingdings"/>
              </a:rPr>
              <a:t></a:t>
            </a:r>
            <a:r>
              <a:rPr lang="en-US" sz="3600" dirty="0"/>
              <a:t> Evidence </a:t>
            </a:r>
            <a:r>
              <a:rPr lang="en-US" sz="3600" dirty="0">
                <a:sym typeface="Wingdings"/>
              </a:rPr>
              <a:t></a:t>
            </a:r>
            <a:r>
              <a:rPr lang="en-US" sz="3600" dirty="0"/>
              <a:t> Effectiveness </a:t>
            </a:r>
            <a:r>
              <a:rPr lang="en-US" sz="3600" dirty="0">
                <a:sym typeface="Wingdings"/>
              </a:rPr>
              <a:t></a:t>
            </a:r>
            <a:r>
              <a:rPr lang="en-US" sz="3600" dirty="0"/>
              <a:t> Trials </a:t>
            </a:r>
            <a:r>
              <a:rPr lang="en-US" sz="3600" dirty="0">
                <a:sym typeface="Wingdings"/>
              </a:rPr>
              <a:t></a:t>
            </a:r>
            <a:r>
              <a:rPr lang="en-US" sz="3600" dirty="0"/>
              <a:t> IT Platform </a:t>
            </a:r>
            <a:r>
              <a:rPr lang="en-US" sz="3600" dirty="0">
                <a:sym typeface="Wingdings"/>
              </a:rPr>
              <a:t></a:t>
            </a:r>
            <a:r>
              <a:rPr lang="en-US" sz="3600" dirty="0"/>
              <a:t> Data Quality &amp; Use </a:t>
            </a:r>
            <a:r>
              <a:rPr lang="en-US" sz="3600" dirty="0">
                <a:sym typeface="Wingdings"/>
              </a:rPr>
              <a:t></a:t>
            </a:r>
            <a:r>
              <a:rPr lang="en-US" sz="3600" dirty="0"/>
              <a:t>  Health  Costs </a:t>
            </a:r>
            <a:r>
              <a:rPr lang="en-US" sz="3600" dirty="0">
                <a:sym typeface="Wingdings"/>
              </a:rPr>
              <a:t></a:t>
            </a:r>
            <a:r>
              <a:rPr lang="en-US" sz="3600" dirty="0"/>
              <a:t> Value </a:t>
            </a:r>
            <a:r>
              <a:rPr lang="en-US" sz="3600" dirty="0">
                <a:sym typeface="Wingdings"/>
              </a:rPr>
              <a:t></a:t>
            </a:r>
            <a:r>
              <a:rPr lang="en-US" sz="3600" dirty="0"/>
              <a:t> Complexity </a:t>
            </a:r>
            <a:r>
              <a:rPr lang="en-US" sz="3600" dirty="0">
                <a:sym typeface="Wingdings"/>
              </a:rPr>
              <a:t></a:t>
            </a:r>
            <a:r>
              <a:rPr lang="en-US" sz="3600" dirty="0"/>
              <a:t> Best  Care </a:t>
            </a:r>
            <a:r>
              <a:rPr lang="en-US" sz="3600" dirty="0">
                <a:sym typeface="Wingdings"/>
              </a:rPr>
              <a:t></a:t>
            </a:r>
            <a:r>
              <a:rPr lang="en-US" sz="3600" dirty="0"/>
              <a:t> Patients </a:t>
            </a:r>
            <a:r>
              <a:rPr lang="en-US" sz="3600" dirty="0">
                <a:sym typeface="Wingdings"/>
              </a:rPr>
              <a:t></a:t>
            </a:r>
            <a:r>
              <a:rPr lang="en-US" sz="3600" dirty="0"/>
              <a:t> Systems </a:t>
            </a:r>
            <a:r>
              <a:rPr lang="en-US" sz="3600" dirty="0">
                <a:sym typeface="Wingdings"/>
              </a:rPr>
              <a:t></a:t>
            </a:r>
            <a:r>
              <a:rPr lang="en-US" sz="3600" dirty="0"/>
              <a:t>  Measures </a:t>
            </a:r>
            <a:r>
              <a:rPr lang="en-US" sz="3600" dirty="0">
                <a:sym typeface="Wingdings"/>
              </a:rPr>
              <a:t></a:t>
            </a:r>
            <a:r>
              <a:rPr lang="en-US" sz="3600" dirty="0"/>
              <a:t> Leadership </a:t>
            </a:r>
            <a:endParaRPr lang="en-US" sz="3600" i="1" dirty="0">
              <a:solidFill>
                <a:schemeClr val="tx1"/>
              </a:solidFill>
              <a:latin typeface="Garamond" panose="02020404030301010803" pitchFamily="18" charset="0"/>
            </a:endParaRPr>
          </a:p>
        </p:txBody>
      </p:sp>
      <p:pic>
        <p:nvPicPr>
          <p:cNvPr id="4" name="Picture 7" descr="Banner1_MeetingSummaryTemplate"/>
          <p:cNvPicPr>
            <a:picLocks noChangeAspect="1" noChangeArrowheads="1"/>
          </p:cNvPicPr>
          <p:nvPr/>
        </p:nvPicPr>
        <p:blipFill rotWithShape="1">
          <a:blip r:embed="rId3">
            <a:extLst>
              <a:ext uri="{28A0092B-C50C-407E-A947-70E740481C1C}">
                <a14:useLocalDpi xmlns:a14="http://schemas.microsoft.com/office/drawing/2010/main" val="0"/>
              </a:ext>
            </a:extLst>
          </a:blip>
          <a:srcRect l="52"/>
          <a:stretch/>
        </p:blipFill>
        <p:spPr bwMode="auto">
          <a:xfrm>
            <a:off x="-2382" y="5081004"/>
            <a:ext cx="9139237" cy="139959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0" y="2459504"/>
            <a:ext cx="4572000" cy="1661993"/>
          </a:xfrm>
          <a:prstGeom prst="rect">
            <a:avLst/>
          </a:prstGeom>
        </p:spPr>
        <p:txBody>
          <a:bodyPr>
            <a:spAutoFit/>
          </a:bodyPr>
          <a:lstStyle/>
          <a:p>
            <a:pPr algn="ctr">
              <a:defRPr/>
            </a:pPr>
            <a:endParaRPr lang="en-US" sz="2400" i="1" dirty="0" smtClean="0">
              <a:latin typeface="Garamond" panose="02020404030301010803" pitchFamily="18" charset="0"/>
            </a:endParaRPr>
          </a:p>
          <a:p>
            <a:pPr algn="ctr">
              <a:defRPr/>
            </a:pPr>
            <a:endParaRPr lang="en-US" sz="2400" i="1" dirty="0">
              <a:latin typeface="Garamond" panose="02020404030301010803" pitchFamily="18" charset="0"/>
            </a:endParaRPr>
          </a:p>
          <a:p>
            <a:pPr algn="ctr">
              <a:defRPr/>
            </a:pPr>
            <a:endParaRPr lang="en-US" sz="2400" i="1" dirty="0" smtClean="0">
              <a:latin typeface="Garamond" panose="02020404030301010803" pitchFamily="18" charset="0"/>
            </a:endParaRPr>
          </a:p>
          <a:p>
            <a:pPr algn="ctr">
              <a:defRPr/>
            </a:pPr>
            <a:r>
              <a:rPr lang="en-US" sz="3000" i="1" smtClean="0">
                <a:latin typeface="Garamond" panose="02020404030301010803" pitchFamily="18" charset="0"/>
              </a:rPr>
              <a:t>March 21, </a:t>
            </a:r>
            <a:r>
              <a:rPr lang="en-US" sz="3000" i="1" dirty="0" smtClean="0">
                <a:latin typeface="Garamond" panose="02020404030301010803" pitchFamily="18" charset="0"/>
              </a:rPr>
              <a:t>2019</a:t>
            </a:r>
            <a:endParaRPr lang="en-US" dirty="0"/>
          </a:p>
        </p:txBody>
      </p:sp>
      <p:pic>
        <p:nvPicPr>
          <p:cNvPr id="9" name="Picture 8"/>
          <p:cNvPicPr/>
          <p:nvPr/>
        </p:nvPicPr>
        <p:blipFill>
          <a:blip r:embed="rId4" cstate="print">
            <a:extLst>
              <a:ext uri="{28A0092B-C50C-407E-A947-70E740481C1C}">
                <a14:useLocalDpi xmlns:a14="http://schemas.microsoft.com/office/drawing/2010/main" val="0"/>
              </a:ext>
            </a:extLst>
          </a:blip>
          <a:stretch>
            <a:fillRect/>
          </a:stretch>
        </p:blipFill>
        <p:spPr>
          <a:xfrm>
            <a:off x="1940717" y="633412"/>
            <a:ext cx="5374483" cy="685800"/>
          </a:xfrm>
          <a:prstGeom prst="rect">
            <a:avLst/>
          </a:prstGeom>
          <a:noFill/>
          <a:ln>
            <a:noFill/>
          </a:ln>
        </p:spPr>
      </p:pic>
      <p:sp>
        <p:nvSpPr>
          <p:cNvPr id="7" name="TextBox 6"/>
          <p:cNvSpPr txBox="1"/>
          <p:nvPr/>
        </p:nvSpPr>
        <p:spPr>
          <a:xfrm>
            <a:off x="2509836" y="6457467"/>
            <a:ext cx="5414964" cy="646331"/>
          </a:xfrm>
          <a:prstGeom prst="rect">
            <a:avLst/>
          </a:prstGeom>
          <a:noFill/>
        </p:spPr>
        <p:txBody>
          <a:bodyPr wrap="square" rtlCol="0">
            <a:spAutoFit/>
          </a:bodyPr>
          <a:lstStyle/>
          <a:p>
            <a:r>
              <a:rPr lang="en-US" b="1" cap="small" dirty="0">
                <a:latin typeface="Garamond" panose="02020404030301010803" pitchFamily="18" charset="0"/>
              </a:rPr>
              <a:t>The Learning Health System Series</a:t>
            </a:r>
            <a:endParaRPr lang="en-US" dirty="0">
              <a:latin typeface="Garamond" panose="02020404030301010803" pitchFamily="18" charset="0"/>
            </a:endParaRPr>
          </a:p>
          <a:p>
            <a:r>
              <a:rPr lang="en-US" dirty="0" smtClean="0">
                <a:latin typeface="Garamond" panose="02020404030301010803" pitchFamily="18" charset="0"/>
              </a:rPr>
              <a:t> </a:t>
            </a:r>
            <a:endParaRPr lang="en-US" dirty="0">
              <a:latin typeface="Garamond" panose="02020404030301010803" pitchFamily="18" charset="0"/>
            </a:endParaRPr>
          </a:p>
        </p:txBody>
      </p:sp>
    </p:spTree>
    <p:extLst>
      <p:ext uri="{BB962C8B-B14F-4D97-AF65-F5344CB8AC3E}">
        <p14:creationId xmlns:p14="http://schemas.microsoft.com/office/powerpoint/2010/main" val="7445088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DLC meeting – November 30, 2017</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2" name="TextBox 1"/>
          <p:cNvSpPr txBox="1"/>
          <p:nvPr/>
        </p:nvSpPr>
        <p:spPr>
          <a:xfrm>
            <a:off x="456020" y="1173162"/>
            <a:ext cx="8154580" cy="5386090"/>
          </a:xfrm>
          <a:prstGeom prst="rect">
            <a:avLst/>
          </a:prstGeom>
          <a:noFill/>
        </p:spPr>
        <p:txBody>
          <a:bodyPr wrap="square" rtlCol="0">
            <a:spAutoFit/>
          </a:bodyPr>
          <a:lstStyle/>
          <a:p>
            <a:pPr marL="285750" indent="-285750">
              <a:buFont typeface="Arial" panose="020B0604020202020204" pitchFamily="34" charset="0"/>
              <a:buChar char="•"/>
            </a:pPr>
            <a:r>
              <a:rPr lang="en-US" sz="2400" b="1" dirty="0" smtClean="0"/>
              <a:t>Meeting objective: </a:t>
            </a:r>
            <a:r>
              <a:rPr lang="en-US" sz="2400" dirty="0"/>
              <a:t>Consider the nature, elements, applications, state of play, and implications of </a:t>
            </a:r>
            <a:r>
              <a:rPr lang="en-US" sz="2400" dirty="0" smtClean="0"/>
              <a:t>AI/ML in </a:t>
            </a:r>
            <a:r>
              <a:rPr lang="en-US" sz="2400" dirty="0"/>
              <a:t>health and health care, and ways in the </a:t>
            </a:r>
            <a:r>
              <a:rPr lang="en-US" sz="2400" dirty="0" smtClean="0"/>
              <a:t>NAM might </a:t>
            </a:r>
            <a:r>
              <a:rPr lang="en-US" sz="2400" dirty="0"/>
              <a:t>enhance collaborative progress</a:t>
            </a:r>
            <a:r>
              <a:rPr lang="en-US" sz="2400" dirty="0" smtClean="0"/>
              <a:t>.</a:t>
            </a:r>
          </a:p>
          <a:p>
            <a:pPr marL="285750" indent="-285750">
              <a:buFont typeface="Arial" panose="020B0604020202020204" pitchFamily="34" charset="0"/>
              <a:buChar char="•"/>
            </a:pPr>
            <a:r>
              <a:rPr lang="en-US" sz="2400" b="1" dirty="0" smtClean="0"/>
              <a:t>Meeting outcome: </a:t>
            </a:r>
            <a:r>
              <a:rPr lang="en-US" sz="2400" dirty="0" smtClean="0"/>
              <a:t>Identification of major barriers &amp; establishment of a NAM working group</a:t>
            </a:r>
          </a:p>
          <a:p>
            <a:pPr marL="742950" lvl="1" indent="-285750">
              <a:buFont typeface="Arial" panose="020B0604020202020204" pitchFamily="34" charset="0"/>
              <a:buChar char="•"/>
            </a:pPr>
            <a:r>
              <a:rPr lang="en-US" sz="2000" dirty="0"/>
              <a:t>Facilitating workflow </a:t>
            </a:r>
            <a:r>
              <a:rPr lang="en-US" sz="2000" dirty="0" smtClean="0"/>
              <a:t>integration </a:t>
            </a:r>
          </a:p>
          <a:p>
            <a:pPr marL="742950" lvl="1" indent="-285750">
              <a:buFont typeface="Arial" panose="020B0604020202020204" pitchFamily="34" charset="0"/>
              <a:buChar char="•"/>
            </a:pPr>
            <a:r>
              <a:rPr lang="en-US" sz="2000" dirty="0" smtClean="0"/>
              <a:t>Enhancing </a:t>
            </a:r>
            <a:r>
              <a:rPr lang="en-US" sz="2000" dirty="0" err="1"/>
              <a:t>explainability</a:t>
            </a:r>
            <a:r>
              <a:rPr lang="en-US" sz="2000" dirty="0"/>
              <a:t> &amp; </a:t>
            </a:r>
            <a:r>
              <a:rPr lang="en-US" sz="2000" dirty="0" smtClean="0"/>
              <a:t>interpretability </a:t>
            </a:r>
          </a:p>
          <a:p>
            <a:pPr marL="742950" lvl="1" indent="-285750">
              <a:buFont typeface="Arial" panose="020B0604020202020204" pitchFamily="34" charset="0"/>
              <a:buChar char="•"/>
            </a:pPr>
            <a:r>
              <a:rPr lang="en-US" sz="2000" dirty="0" smtClean="0"/>
              <a:t>Workforce education </a:t>
            </a:r>
          </a:p>
          <a:p>
            <a:pPr marL="742950" lvl="1" indent="-285750">
              <a:buFont typeface="Arial" panose="020B0604020202020204" pitchFamily="34" charset="0"/>
              <a:buChar char="•"/>
            </a:pPr>
            <a:r>
              <a:rPr lang="en-US" sz="2000" dirty="0" smtClean="0"/>
              <a:t>Oversight &amp; regulation </a:t>
            </a:r>
          </a:p>
          <a:p>
            <a:pPr marL="742950" lvl="1" indent="-285750">
              <a:buFont typeface="Arial" panose="020B0604020202020204" pitchFamily="34" charset="0"/>
              <a:buChar char="•"/>
            </a:pPr>
            <a:r>
              <a:rPr lang="en-US" sz="2000" dirty="0" smtClean="0"/>
              <a:t>Problem </a:t>
            </a:r>
            <a:r>
              <a:rPr lang="en-US" sz="2000" dirty="0"/>
              <a:t>identification &amp;</a:t>
            </a:r>
            <a:r>
              <a:rPr lang="en-US" sz="2000" dirty="0" smtClean="0"/>
              <a:t> prioritization </a:t>
            </a:r>
          </a:p>
          <a:p>
            <a:pPr marL="742950" lvl="1" indent="-285750">
              <a:buFont typeface="Arial" panose="020B0604020202020204" pitchFamily="34" charset="0"/>
              <a:buChar char="•"/>
            </a:pPr>
            <a:r>
              <a:rPr lang="en-US" sz="2000" dirty="0" smtClean="0"/>
              <a:t>Clinician </a:t>
            </a:r>
            <a:r>
              <a:rPr lang="en-US" sz="2000" dirty="0"/>
              <a:t>&amp; patient </a:t>
            </a:r>
            <a:r>
              <a:rPr lang="en-US" sz="2000" dirty="0" smtClean="0"/>
              <a:t>engagement </a:t>
            </a:r>
          </a:p>
          <a:p>
            <a:pPr marL="742950" lvl="1" indent="-285750">
              <a:buFont typeface="Arial" panose="020B0604020202020204" pitchFamily="34" charset="0"/>
              <a:buChar char="•"/>
            </a:pPr>
            <a:r>
              <a:rPr lang="en-US" sz="2000" dirty="0" smtClean="0"/>
              <a:t>Data </a:t>
            </a:r>
            <a:r>
              <a:rPr lang="en-US" sz="2000" dirty="0"/>
              <a:t>quality &amp; </a:t>
            </a:r>
            <a:r>
              <a:rPr lang="en-US" sz="2000" dirty="0" smtClean="0"/>
              <a:t>access</a:t>
            </a:r>
          </a:p>
          <a:p>
            <a:pPr marL="742950" lvl="1" indent="-285750">
              <a:buFont typeface="Arial" panose="020B0604020202020204" pitchFamily="34" charset="0"/>
              <a:buChar char="•"/>
            </a:pPr>
            <a:endParaRPr lang="en-US" sz="2000" b="1" dirty="0"/>
          </a:p>
          <a:p>
            <a:pPr lvl="1"/>
            <a:r>
              <a:rPr lang="en-US" sz="2000" b="1" dirty="0"/>
              <a:t>Additional Information: </a:t>
            </a:r>
            <a:r>
              <a:rPr lang="en-US" sz="2000" dirty="0">
                <a:hlinkClick r:id="rId5"/>
              </a:rPr>
              <a:t>https://nam.edu/event/digital-learning-collaborative-4</a:t>
            </a:r>
            <a:r>
              <a:rPr lang="en-US" sz="2000" dirty="0" smtClean="0">
                <a:hlinkClick r:id="rId5"/>
              </a:rPr>
              <a:t>/</a:t>
            </a:r>
            <a:r>
              <a:rPr lang="en-US" sz="2000" dirty="0" smtClean="0"/>
              <a:t> </a:t>
            </a:r>
            <a:endParaRPr lang="en-US" sz="2000" dirty="0"/>
          </a:p>
        </p:txBody>
      </p:sp>
    </p:spTree>
    <p:extLst>
      <p:ext uri="{BB962C8B-B14F-4D97-AF65-F5344CB8AC3E}">
        <p14:creationId xmlns:p14="http://schemas.microsoft.com/office/powerpoint/2010/main" val="35382372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Working Group</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2" name="TextBox 1"/>
          <p:cNvSpPr txBox="1"/>
          <p:nvPr/>
        </p:nvSpPr>
        <p:spPr>
          <a:xfrm>
            <a:off x="449093" y="1752600"/>
            <a:ext cx="8154580" cy="3354765"/>
          </a:xfrm>
          <a:prstGeom prst="rect">
            <a:avLst/>
          </a:prstGeom>
          <a:noFill/>
        </p:spPr>
        <p:txBody>
          <a:bodyPr wrap="square" rtlCol="0">
            <a:spAutoFit/>
          </a:bodyPr>
          <a:lstStyle/>
          <a:p>
            <a:pPr marL="342900" indent="-342900">
              <a:buFont typeface="Arial" panose="020B0604020202020204" pitchFamily="34" charset="0"/>
              <a:buChar char="•"/>
            </a:pPr>
            <a:r>
              <a:rPr lang="en-US" sz="2400" b="1" dirty="0" smtClean="0"/>
              <a:t>Original charter: </a:t>
            </a:r>
            <a:r>
              <a:rPr lang="en-US" sz="2400" dirty="0" smtClean="0"/>
              <a:t>To </a:t>
            </a:r>
            <a:r>
              <a:rPr lang="en-US" sz="2400" dirty="0"/>
              <a:t>explore the fields of AI &amp;</a:t>
            </a:r>
            <a:r>
              <a:rPr lang="en-US" sz="2400" dirty="0" smtClean="0"/>
              <a:t> </a:t>
            </a:r>
            <a:r>
              <a:rPr lang="en-US" sz="2400" dirty="0"/>
              <a:t>their applications in health and health </a:t>
            </a:r>
            <a:r>
              <a:rPr lang="en-US" sz="2400" dirty="0" smtClean="0"/>
              <a:t>care, &amp; to consider approaches to addressing the barriers identified at the DLC meeting</a:t>
            </a:r>
          </a:p>
          <a:p>
            <a:pPr marL="800100" lvl="1" indent="-342900">
              <a:buFont typeface="Arial" panose="020B0604020202020204" pitchFamily="34" charset="0"/>
              <a:buChar char="•"/>
            </a:pPr>
            <a:r>
              <a:rPr lang="en-US" sz="2400" dirty="0" smtClean="0"/>
              <a:t>strategies </a:t>
            </a:r>
            <a:r>
              <a:rPr lang="en-US" sz="2400" dirty="0"/>
              <a:t>to enhance data integration to advance </a:t>
            </a:r>
            <a:r>
              <a:rPr lang="en-US" sz="2400" dirty="0" smtClean="0"/>
              <a:t>AI</a:t>
            </a:r>
          </a:p>
          <a:p>
            <a:pPr marL="800100" lvl="1" indent="-342900">
              <a:buFont typeface="Arial" panose="020B0604020202020204" pitchFamily="34" charset="0"/>
              <a:buChar char="•"/>
            </a:pPr>
            <a:r>
              <a:rPr lang="en-US" sz="2400" dirty="0" smtClean="0"/>
              <a:t>practical </a:t>
            </a:r>
            <a:r>
              <a:rPr lang="en-US" sz="2400" dirty="0"/>
              <a:t>challenges to AI model development &amp;</a:t>
            </a:r>
            <a:r>
              <a:rPr lang="en-US" sz="2400" dirty="0" smtClean="0"/>
              <a:t> implementation</a:t>
            </a:r>
          </a:p>
          <a:p>
            <a:pPr marL="800100" lvl="1" indent="-342900">
              <a:buFont typeface="Arial" panose="020B0604020202020204" pitchFamily="34" charset="0"/>
              <a:buChar char="•"/>
            </a:pPr>
            <a:r>
              <a:rPr lang="en-US" sz="2400" dirty="0" smtClean="0"/>
              <a:t>opportunities </a:t>
            </a:r>
            <a:r>
              <a:rPr lang="en-US" sz="2400" dirty="0"/>
              <a:t>for accelerating progress </a:t>
            </a:r>
          </a:p>
          <a:p>
            <a:pPr marL="742950" lvl="1" indent="-285750">
              <a:buFont typeface="Arial" panose="020B0604020202020204" pitchFamily="34" charset="0"/>
              <a:buChar char="•"/>
            </a:pPr>
            <a:endParaRPr lang="en-US" sz="2000" b="1" dirty="0"/>
          </a:p>
        </p:txBody>
      </p:sp>
    </p:spTree>
    <p:extLst>
      <p:ext uri="{BB962C8B-B14F-4D97-AF65-F5344CB8AC3E}">
        <p14:creationId xmlns:p14="http://schemas.microsoft.com/office/powerpoint/2010/main" val="37044266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Working Group: Membership</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2" name="TextBox 1"/>
          <p:cNvSpPr txBox="1"/>
          <p:nvPr/>
        </p:nvSpPr>
        <p:spPr>
          <a:xfrm>
            <a:off x="456020" y="1173162"/>
            <a:ext cx="8154580" cy="5029200"/>
          </a:xfrm>
          <a:prstGeom prst="rect">
            <a:avLst/>
          </a:prstGeom>
          <a:noFill/>
        </p:spPr>
        <p:txBody>
          <a:bodyPr wrap="square" numCol="2" rtlCol="0">
            <a:spAutoFit/>
          </a:bodyPr>
          <a:lstStyle/>
          <a:p>
            <a:r>
              <a:rPr lang="en-US" sz="1600" b="1" dirty="0"/>
              <a:t>Andrew Auerbach, MD</a:t>
            </a:r>
            <a:r>
              <a:rPr lang="en-US" sz="1600" dirty="0"/>
              <a:t>, University of California San Francisco </a:t>
            </a:r>
          </a:p>
          <a:p>
            <a:r>
              <a:rPr lang="en-US" sz="1600" b="1" dirty="0"/>
              <a:t>Andy Beam</a:t>
            </a:r>
            <a:r>
              <a:rPr lang="en-US" sz="1600" dirty="0"/>
              <a:t>, Harvard University </a:t>
            </a:r>
          </a:p>
          <a:p>
            <a:r>
              <a:rPr lang="en-US" sz="1600" b="1" dirty="0"/>
              <a:t>Paul Bleicher, MD, PhD,</a:t>
            </a:r>
            <a:r>
              <a:rPr lang="en-US" sz="1600" dirty="0"/>
              <a:t> </a:t>
            </a:r>
            <a:r>
              <a:rPr lang="en-US" sz="1600" dirty="0" err="1"/>
              <a:t>OptumLabs</a:t>
            </a:r>
            <a:r>
              <a:rPr lang="en-US" sz="1600" dirty="0"/>
              <a:t> </a:t>
            </a:r>
          </a:p>
          <a:p>
            <a:r>
              <a:rPr lang="en-US" sz="1600" b="1" dirty="0"/>
              <a:t>John Burch, MBA</a:t>
            </a:r>
            <a:r>
              <a:rPr lang="en-US" sz="1600" dirty="0"/>
              <a:t>, JLB Associates </a:t>
            </a:r>
          </a:p>
          <a:p>
            <a:r>
              <a:rPr lang="en-US" sz="1600" b="1" dirty="0"/>
              <a:t>Wendy Chapman, PhD</a:t>
            </a:r>
            <a:r>
              <a:rPr lang="en-US" sz="1600" dirty="0"/>
              <a:t>, University of Utah </a:t>
            </a:r>
          </a:p>
          <a:p>
            <a:r>
              <a:rPr lang="en-US" sz="1600" b="1" dirty="0"/>
              <a:t>Jonathan Chen</a:t>
            </a:r>
            <a:r>
              <a:rPr lang="en-US" sz="1600" dirty="0"/>
              <a:t>, Stanford University </a:t>
            </a:r>
          </a:p>
          <a:p>
            <a:r>
              <a:rPr lang="en-US" sz="1600" b="1" dirty="0"/>
              <a:t>Lenard D’Avolio, PhD</a:t>
            </a:r>
            <a:r>
              <a:rPr lang="en-US" sz="1600" dirty="0"/>
              <a:t>, </a:t>
            </a:r>
            <a:r>
              <a:rPr lang="en-US" sz="1600" dirty="0" err="1"/>
              <a:t>Cyft</a:t>
            </a:r>
            <a:r>
              <a:rPr lang="en-US" sz="1600" dirty="0"/>
              <a:t> </a:t>
            </a:r>
          </a:p>
          <a:p>
            <a:r>
              <a:rPr lang="en-US" sz="1600" b="1" dirty="0"/>
              <a:t>Hossein Estiri, PhD</a:t>
            </a:r>
            <a:r>
              <a:rPr lang="en-US" sz="1600" dirty="0"/>
              <a:t>, Harvard Medical School </a:t>
            </a:r>
          </a:p>
          <a:p>
            <a:r>
              <a:rPr lang="en-US" sz="1600" b="1" dirty="0"/>
              <a:t>James Fackler, MD</a:t>
            </a:r>
            <a:r>
              <a:rPr lang="en-US" sz="1600" dirty="0"/>
              <a:t>, John Hopkins School of Medicine </a:t>
            </a:r>
          </a:p>
          <a:p>
            <a:r>
              <a:rPr lang="en-US" sz="1600" b="1" dirty="0"/>
              <a:t>Steve Fihn, MD, MPH, FACP</a:t>
            </a:r>
            <a:r>
              <a:rPr lang="en-US" sz="1600" dirty="0"/>
              <a:t>, University of Washington </a:t>
            </a:r>
          </a:p>
          <a:p>
            <a:r>
              <a:rPr lang="en-US" sz="1600" b="1" dirty="0"/>
              <a:t>Anna Goldenberg</a:t>
            </a:r>
            <a:r>
              <a:rPr lang="en-US" sz="1600" dirty="0"/>
              <a:t>, </a:t>
            </a:r>
            <a:r>
              <a:rPr lang="en-US" sz="1600" b="1" dirty="0"/>
              <a:t>PhD</a:t>
            </a:r>
            <a:r>
              <a:rPr lang="en-US" sz="1600" dirty="0"/>
              <a:t>, University of Toronto </a:t>
            </a:r>
          </a:p>
          <a:p>
            <a:r>
              <a:rPr lang="en-US" sz="1600" b="1" dirty="0"/>
              <a:t>Seth Hain, MS</a:t>
            </a:r>
            <a:r>
              <a:rPr lang="en-US" sz="1600" dirty="0"/>
              <a:t>, Epic </a:t>
            </a:r>
          </a:p>
          <a:p>
            <a:r>
              <a:rPr lang="en-US" sz="1600" b="1" dirty="0" err="1"/>
              <a:t>Jaimee</a:t>
            </a:r>
            <a:r>
              <a:rPr lang="en-US" sz="1600" b="1" dirty="0"/>
              <a:t> Heffner</a:t>
            </a:r>
            <a:r>
              <a:rPr lang="en-US" sz="1600" dirty="0"/>
              <a:t>, Fred Hutchinson Cancer Research Center </a:t>
            </a:r>
          </a:p>
          <a:p>
            <a:r>
              <a:rPr lang="en-US" sz="1600" b="1" dirty="0"/>
              <a:t>Michael Howell, MD, MPH</a:t>
            </a:r>
            <a:r>
              <a:rPr lang="en-US" sz="1600" dirty="0"/>
              <a:t>, Google Research </a:t>
            </a:r>
          </a:p>
          <a:p>
            <a:r>
              <a:rPr lang="en-US" sz="1600" b="1" dirty="0" smtClean="0"/>
              <a:t>Edmund </a:t>
            </a:r>
            <a:r>
              <a:rPr lang="en-US" sz="1600" b="1" dirty="0"/>
              <a:t>Jackson, PhD</a:t>
            </a:r>
            <a:r>
              <a:rPr lang="en-US" sz="1600" dirty="0"/>
              <a:t>, Hospital Corporation of America  </a:t>
            </a:r>
          </a:p>
          <a:p>
            <a:r>
              <a:rPr lang="en-US" sz="1600" b="1" dirty="0"/>
              <a:t>Hongfang Liu, PhD, FACMI</a:t>
            </a:r>
            <a:r>
              <a:rPr lang="en-US" sz="1600" dirty="0"/>
              <a:t>, Mayo Clinic </a:t>
            </a:r>
          </a:p>
          <a:p>
            <a:r>
              <a:rPr lang="en-US" sz="1600" b="1" dirty="0">
                <a:solidFill>
                  <a:schemeClr val="accent6">
                    <a:lumMod val="75000"/>
                  </a:schemeClr>
                </a:solidFill>
              </a:rPr>
              <a:t>Michael Matheny, MD, MS, MPH</a:t>
            </a:r>
            <a:r>
              <a:rPr lang="en-US" sz="1600" dirty="0">
                <a:solidFill>
                  <a:schemeClr val="accent6">
                    <a:lumMod val="75000"/>
                  </a:schemeClr>
                </a:solidFill>
              </a:rPr>
              <a:t>, Vanderbilt University *  </a:t>
            </a:r>
          </a:p>
          <a:p>
            <a:r>
              <a:rPr lang="en-US" sz="1600" b="1" dirty="0"/>
              <a:t>Doug McNair, MD, PhD</a:t>
            </a:r>
            <a:r>
              <a:rPr lang="en-US" sz="1600" dirty="0"/>
              <a:t>, Cerner </a:t>
            </a:r>
          </a:p>
          <a:p>
            <a:r>
              <a:rPr lang="en-US" sz="1600" b="1" dirty="0"/>
              <a:t>Eneida Mendonca, MD, PhD</a:t>
            </a:r>
            <a:r>
              <a:rPr lang="en-US" sz="1600" dirty="0"/>
              <a:t>, University of Wisconsin Madison </a:t>
            </a:r>
          </a:p>
          <a:p>
            <a:r>
              <a:rPr lang="en-US" sz="1600" b="1" dirty="0"/>
              <a:t>Wendy Nilsen, PhD</a:t>
            </a:r>
            <a:r>
              <a:rPr lang="en-US" sz="1600" dirty="0"/>
              <a:t>, National Science Foundation </a:t>
            </a:r>
          </a:p>
          <a:p>
            <a:r>
              <a:rPr lang="en-US" sz="1600" b="1" dirty="0"/>
              <a:t>Nicholson Price</a:t>
            </a:r>
            <a:r>
              <a:rPr lang="en-US" sz="1600" dirty="0"/>
              <a:t>, University of Michigan </a:t>
            </a:r>
          </a:p>
          <a:p>
            <a:r>
              <a:rPr lang="en-US" sz="1600" b="1" dirty="0"/>
              <a:t>Joachim Roski, PhD, MPH</a:t>
            </a:r>
            <a:r>
              <a:rPr lang="en-US" sz="1600" dirty="0"/>
              <a:t>, Booz Allen Hamilton </a:t>
            </a:r>
          </a:p>
          <a:p>
            <a:r>
              <a:rPr lang="en-US" sz="1600" b="1" dirty="0"/>
              <a:t>Suchi Saria</a:t>
            </a:r>
            <a:r>
              <a:rPr lang="en-US" sz="1600" dirty="0"/>
              <a:t>, Johns Hopkins University </a:t>
            </a:r>
          </a:p>
          <a:p>
            <a:r>
              <a:rPr lang="en-US" sz="1600" b="1" dirty="0" smtClean="0"/>
              <a:t>Nigam </a:t>
            </a:r>
            <a:r>
              <a:rPr lang="en-US" sz="1600" b="1" dirty="0"/>
              <a:t>Shah, MBBS, PhD</a:t>
            </a:r>
            <a:r>
              <a:rPr lang="en-US" sz="1600" dirty="0"/>
              <a:t>, Stanford University  </a:t>
            </a:r>
          </a:p>
          <a:p>
            <a:r>
              <a:rPr lang="en-US" sz="1600" b="1" dirty="0">
                <a:solidFill>
                  <a:schemeClr val="accent6">
                    <a:lumMod val="75000"/>
                  </a:schemeClr>
                </a:solidFill>
              </a:rPr>
              <a:t>Sonoo Thadaney, MBA</a:t>
            </a:r>
            <a:r>
              <a:rPr lang="en-US" sz="1600" dirty="0">
                <a:solidFill>
                  <a:schemeClr val="accent6">
                    <a:lumMod val="75000"/>
                  </a:schemeClr>
                </a:solidFill>
              </a:rPr>
              <a:t>, Stanford University * </a:t>
            </a:r>
          </a:p>
          <a:p>
            <a:r>
              <a:rPr lang="en-US" sz="1600" b="1" dirty="0"/>
              <a:t>Ranak Trivedi</a:t>
            </a:r>
            <a:r>
              <a:rPr lang="en-US" sz="1600" dirty="0"/>
              <a:t>, Stanford University </a:t>
            </a:r>
          </a:p>
          <a:p>
            <a:r>
              <a:rPr lang="en-US" sz="1600" b="1" dirty="0"/>
              <a:t>Reed Tuckson, MD, FACP</a:t>
            </a:r>
            <a:r>
              <a:rPr lang="en-US" sz="1600" dirty="0"/>
              <a:t>, Tuckson Health Connections </a:t>
            </a:r>
          </a:p>
          <a:p>
            <a:r>
              <a:rPr lang="en-US" sz="1600" b="1" dirty="0"/>
              <a:t>Charlene Weir</a:t>
            </a:r>
            <a:r>
              <a:rPr lang="en-US" sz="1600" dirty="0"/>
              <a:t>, University of Utah </a:t>
            </a:r>
          </a:p>
          <a:p>
            <a:r>
              <a:rPr lang="en-US" sz="1600" b="1" dirty="0"/>
              <a:t>Jenna Wiens</a:t>
            </a:r>
            <a:r>
              <a:rPr lang="en-US" sz="1600" dirty="0"/>
              <a:t>, University of Michigan </a:t>
            </a:r>
          </a:p>
          <a:p>
            <a:r>
              <a:rPr lang="en-US" sz="1600" b="1" dirty="0"/>
              <a:t>Daniel Yang, MD</a:t>
            </a:r>
            <a:r>
              <a:rPr lang="en-US" sz="1600" dirty="0"/>
              <a:t>, Moore </a:t>
            </a:r>
            <a:r>
              <a:rPr lang="en-US" sz="1600" dirty="0" smtClean="0"/>
              <a:t>Foundation</a:t>
            </a:r>
            <a:endParaRPr lang="en-US" sz="1600" dirty="0"/>
          </a:p>
        </p:txBody>
      </p:sp>
    </p:spTree>
    <p:extLst>
      <p:ext uri="{BB962C8B-B14F-4D97-AF65-F5344CB8AC3E}">
        <p14:creationId xmlns:p14="http://schemas.microsoft.com/office/powerpoint/2010/main" val="26359073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Publication: Overview</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2" name="TextBox 1"/>
          <p:cNvSpPr txBox="1"/>
          <p:nvPr/>
        </p:nvSpPr>
        <p:spPr>
          <a:xfrm>
            <a:off x="449093" y="1752600"/>
            <a:ext cx="8154580" cy="3724096"/>
          </a:xfrm>
          <a:prstGeom prst="rect">
            <a:avLst/>
          </a:prstGeom>
          <a:noFill/>
        </p:spPr>
        <p:txBody>
          <a:bodyPr wrap="square" rtlCol="0">
            <a:spAutoFit/>
          </a:bodyPr>
          <a:lstStyle/>
          <a:p>
            <a:pPr marL="342900" indent="-342900">
              <a:buFont typeface="Arial" panose="020B0604020202020204" pitchFamily="34" charset="0"/>
              <a:buChar char="•"/>
            </a:pPr>
            <a:r>
              <a:rPr lang="en-US" sz="2400" b="1" dirty="0" smtClean="0"/>
              <a:t>Objectives and scope: </a:t>
            </a:r>
            <a:r>
              <a:rPr lang="en-US" sz="2400" dirty="0"/>
              <a:t>Develop a reference document for </a:t>
            </a:r>
            <a:r>
              <a:rPr lang="en-US" sz="2400" i="1" dirty="0"/>
              <a:t>model developers, clinical implementers, clinical users, and regulatory and policy makers </a:t>
            </a:r>
            <a:r>
              <a:rPr lang="en-US" sz="2400" dirty="0" smtClean="0"/>
              <a:t>to:</a:t>
            </a:r>
          </a:p>
          <a:p>
            <a:pPr marL="800100" lvl="1" indent="-342900">
              <a:buFont typeface="Arial" panose="020B0604020202020204" pitchFamily="34" charset="0"/>
              <a:buChar char="•"/>
            </a:pPr>
            <a:r>
              <a:rPr lang="en-US" sz="2400" dirty="0" smtClean="0"/>
              <a:t>understand the strengths &amp; </a:t>
            </a:r>
            <a:r>
              <a:rPr lang="en-US" sz="2400" dirty="0"/>
              <a:t>limitations of </a:t>
            </a:r>
            <a:r>
              <a:rPr lang="en-US" sz="2400" dirty="0" smtClean="0"/>
              <a:t>AI/ML</a:t>
            </a:r>
          </a:p>
          <a:p>
            <a:pPr marL="800100" lvl="1" indent="-342900">
              <a:buFont typeface="Arial" panose="020B0604020202020204" pitchFamily="34" charset="0"/>
              <a:buChar char="•"/>
            </a:pPr>
            <a:r>
              <a:rPr lang="en-US" sz="2400" dirty="0" smtClean="0"/>
              <a:t>promote the appropriate use </a:t>
            </a:r>
            <a:r>
              <a:rPr lang="en-US" sz="2400" dirty="0"/>
              <a:t>of these methods &amp;</a:t>
            </a:r>
            <a:r>
              <a:rPr lang="en-US" sz="2400" dirty="0" smtClean="0"/>
              <a:t> </a:t>
            </a:r>
            <a:r>
              <a:rPr lang="en-US" sz="2400" dirty="0"/>
              <a:t>technologies within the healthcare </a:t>
            </a:r>
            <a:r>
              <a:rPr lang="en-US" sz="2400" dirty="0" smtClean="0"/>
              <a:t>system</a:t>
            </a:r>
          </a:p>
          <a:p>
            <a:pPr marL="800100" lvl="1" indent="-342900">
              <a:buFont typeface="Arial" panose="020B0604020202020204" pitchFamily="34" charset="0"/>
              <a:buChar char="•"/>
            </a:pPr>
            <a:r>
              <a:rPr lang="en-US" sz="2400" dirty="0"/>
              <a:t>h</a:t>
            </a:r>
            <a:r>
              <a:rPr lang="en-US" sz="2400" dirty="0" smtClean="0"/>
              <a:t>ighlight </a:t>
            </a:r>
            <a:r>
              <a:rPr lang="en-US" sz="2400" dirty="0"/>
              <a:t>areas of future work needed in research, implementation science, &amp;</a:t>
            </a:r>
            <a:r>
              <a:rPr lang="en-US" sz="2400" dirty="0" smtClean="0"/>
              <a:t> </a:t>
            </a:r>
            <a:r>
              <a:rPr lang="en-US" sz="2400" dirty="0"/>
              <a:t>regulatory bodies to facilitate </a:t>
            </a:r>
            <a:r>
              <a:rPr lang="en-US" sz="2400" dirty="0" smtClean="0"/>
              <a:t>the broader </a:t>
            </a:r>
            <a:r>
              <a:rPr lang="en-US" sz="2400" dirty="0"/>
              <a:t>use of AI/ML in healthcare</a:t>
            </a:r>
          </a:p>
          <a:p>
            <a:pPr marL="742950" lvl="1" indent="-285750">
              <a:buFont typeface="Arial" panose="020B0604020202020204" pitchFamily="34" charset="0"/>
              <a:buChar char="•"/>
            </a:pPr>
            <a:endParaRPr lang="en-US" sz="2000" b="1" dirty="0"/>
          </a:p>
        </p:txBody>
      </p:sp>
    </p:spTree>
    <p:extLst>
      <p:ext uri="{BB962C8B-B14F-4D97-AF65-F5344CB8AC3E}">
        <p14:creationId xmlns:p14="http://schemas.microsoft.com/office/powerpoint/2010/main" val="921275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Publication: Organization</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9" name="Content Placeholder 2"/>
          <p:cNvSpPr>
            <a:spLocks noGrp="1"/>
          </p:cNvSpPr>
          <p:nvPr>
            <p:ph idx="1"/>
          </p:nvPr>
        </p:nvSpPr>
        <p:spPr>
          <a:xfrm>
            <a:off x="278423" y="1291622"/>
            <a:ext cx="8686800" cy="5059363"/>
          </a:xfrm>
        </p:spPr>
        <p:txBody>
          <a:bodyPr>
            <a:normAutofit/>
          </a:bodyPr>
          <a:lstStyle/>
          <a:p>
            <a:pPr marL="0" indent="0">
              <a:buNone/>
            </a:pPr>
            <a:r>
              <a:rPr lang="en-US" sz="1800" b="1" dirty="0">
                <a:solidFill>
                  <a:schemeClr val="accent3">
                    <a:lumMod val="50000"/>
                  </a:schemeClr>
                </a:solidFill>
              </a:rPr>
              <a:t> </a:t>
            </a:r>
            <a:r>
              <a:rPr lang="en-US" sz="1800" b="1" dirty="0" smtClean="0">
                <a:solidFill>
                  <a:schemeClr val="accent3">
                    <a:lumMod val="50000"/>
                  </a:schemeClr>
                </a:solidFill>
              </a:rPr>
              <a:t>     </a:t>
            </a:r>
            <a:r>
              <a:rPr lang="en-US" sz="1800" b="1" u="sng" dirty="0" smtClean="0">
                <a:solidFill>
                  <a:schemeClr val="accent3">
                    <a:lumMod val="50000"/>
                  </a:schemeClr>
                </a:solidFill>
              </a:rPr>
              <a:t> TOPIC</a:t>
            </a:r>
            <a:r>
              <a:rPr lang="en-US" sz="1800" b="1" dirty="0">
                <a:solidFill>
                  <a:schemeClr val="accent3">
                    <a:lumMod val="50000"/>
                  </a:schemeClr>
                </a:solidFill>
              </a:rPr>
              <a:t>				</a:t>
            </a:r>
            <a:r>
              <a:rPr lang="en-US" sz="1800" b="1" dirty="0" smtClean="0">
                <a:solidFill>
                  <a:schemeClr val="accent3">
                    <a:lumMod val="50000"/>
                  </a:schemeClr>
                </a:solidFill>
              </a:rPr>
              <a:t>  </a:t>
            </a:r>
            <a:r>
              <a:rPr lang="en-US" sz="1800" b="1" u="sng" dirty="0" smtClean="0">
                <a:solidFill>
                  <a:schemeClr val="accent3">
                    <a:lumMod val="50000"/>
                  </a:schemeClr>
                </a:solidFill>
              </a:rPr>
              <a:t>LEADS</a:t>
            </a:r>
            <a:endParaRPr lang="en-US" sz="1800" b="1" u="sng" dirty="0">
              <a:solidFill>
                <a:schemeClr val="accent3">
                  <a:lumMod val="50000"/>
                </a:schemeClr>
              </a:solidFill>
            </a:endParaRPr>
          </a:p>
          <a:p>
            <a:r>
              <a:rPr lang="en-US" sz="1800" dirty="0"/>
              <a:t>NAM DLC 				  Jonathan Perlin, Reed </a:t>
            </a:r>
            <a:r>
              <a:rPr lang="en-US" sz="1800" dirty="0" err="1"/>
              <a:t>Tuckson</a:t>
            </a:r>
            <a:endParaRPr lang="en-US" sz="1800" dirty="0"/>
          </a:p>
          <a:p>
            <a:r>
              <a:rPr lang="en-US" sz="1800" dirty="0"/>
              <a:t>NAM Program Office			  Danielle Whicher, </a:t>
            </a:r>
            <a:r>
              <a:rPr lang="en-US" sz="1800" dirty="0" err="1"/>
              <a:t>Mahnoor</a:t>
            </a:r>
            <a:r>
              <a:rPr lang="en-US" sz="1800" dirty="0"/>
              <a:t> Ahmed</a:t>
            </a:r>
          </a:p>
          <a:p>
            <a:r>
              <a:rPr lang="en-US" sz="1800" dirty="0"/>
              <a:t>Publication </a:t>
            </a:r>
            <a:r>
              <a:rPr lang="en-US" sz="1800" dirty="0" smtClean="0"/>
              <a:t>Editors and Workgroup Chairs</a:t>
            </a:r>
            <a:r>
              <a:rPr lang="en-US" sz="1800" dirty="0"/>
              <a:t>	 </a:t>
            </a:r>
            <a:r>
              <a:rPr lang="en-US" sz="1800" dirty="0" smtClean="0"/>
              <a:t> Sonoo </a:t>
            </a:r>
            <a:r>
              <a:rPr lang="en-US" sz="1800" dirty="0"/>
              <a:t>Thadaney, Michael Matheny</a:t>
            </a:r>
          </a:p>
          <a:p>
            <a:endParaRPr lang="en-US" sz="1800" dirty="0"/>
          </a:p>
          <a:p>
            <a:r>
              <a:rPr lang="en-US" sz="1800" dirty="0"/>
              <a:t>Chapter 1: Introduction			  </a:t>
            </a:r>
            <a:r>
              <a:rPr lang="en-US" sz="1800" dirty="0" err="1"/>
              <a:t>Sonoo</a:t>
            </a:r>
            <a:r>
              <a:rPr lang="en-US" sz="1800" dirty="0"/>
              <a:t> </a:t>
            </a:r>
            <a:r>
              <a:rPr lang="en-US" sz="1800" dirty="0" err="1"/>
              <a:t>Thadaney</a:t>
            </a:r>
            <a:r>
              <a:rPr lang="en-US" sz="1800" dirty="0"/>
              <a:t>, Michael Matheny</a:t>
            </a:r>
          </a:p>
          <a:p>
            <a:r>
              <a:rPr lang="en-US" sz="1800" dirty="0"/>
              <a:t>Chapter 2: History of AI 			  Edmund Jackson, Jim Fackler</a:t>
            </a:r>
          </a:p>
          <a:p>
            <a:r>
              <a:rPr lang="en-US" sz="1800" dirty="0"/>
              <a:t>Chapter 3: Promise/Opportunities for AI 	  Joachim Roski, Wendy Chapman</a:t>
            </a:r>
          </a:p>
          <a:p>
            <a:r>
              <a:rPr lang="en-US" sz="1800" dirty="0"/>
              <a:t>Chapter 4: Pitfalls/Challenges for AI	  </a:t>
            </a:r>
            <a:r>
              <a:rPr lang="en-US" sz="1800" dirty="0" smtClean="0"/>
              <a:t>	  Eneida </a:t>
            </a:r>
            <a:r>
              <a:rPr lang="en-US" sz="1800" dirty="0"/>
              <a:t>Mendonca, Jonathan Chen</a:t>
            </a:r>
          </a:p>
          <a:p>
            <a:r>
              <a:rPr lang="en-US" sz="1800" dirty="0"/>
              <a:t>Chapter 5: AI Development &amp; Validation	  Hongfang Liu, Nigam Shah</a:t>
            </a:r>
          </a:p>
          <a:p>
            <a:r>
              <a:rPr lang="en-US" sz="1800" dirty="0"/>
              <a:t>Chapter 6: AI Deployment in Clinical Settings	  Steve Fihn, Andy Auerbach</a:t>
            </a:r>
          </a:p>
          <a:p>
            <a:r>
              <a:rPr lang="en-US" sz="1800" dirty="0"/>
              <a:t>Chapter 7: Regulatory &amp; Policy Issues	  Doug McNair, Nicholson Price</a:t>
            </a:r>
          </a:p>
          <a:p>
            <a:r>
              <a:rPr lang="en-US" sz="1800" dirty="0"/>
              <a:t>Chapter 8: Conclusions &amp; Key Needs	  </a:t>
            </a:r>
            <a:r>
              <a:rPr lang="en-US" sz="1800" dirty="0" err="1"/>
              <a:t>Sonoo</a:t>
            </a:r>
            <a:r>
              <a:rPr lang="en-US" sz="1800" dirty="0"/>
              <a:t> </a:t>
            </a:r>
            <a:r>
              <a:rPr lang="en-US" sz="1800" dirty="0" err="1"/>
              <a:t>Thadaney</a:t>
            </a:r>
            <a:r>
              <a:rPr lang="en-US" sz="1800" dirty="0"/>
              <a:t>, Michael Matheny</a:t>
            </a:r>
          </a:p>
        </p:txBody>
      </p:sp>
    </p:spTree>
    <p:extLst>
      <p:ext uri="{BB962C8B-B14F-4D97-AF65-F5344CB8AC3E}">
        <p14:creationId xmlns:p14="http://schemas.microsoft.com/office/powerpoint/2010/main" val="23861516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Publication: Scope</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9" name="Content Placeholder 2">
            <a:extLst>
              <a:ext uri="{FF2B5EF4-FFF2-40B4-BE49-F238E27FC236}">
                <a16:creationId xmlns:a16="http://schemas.microsoft.com/office/drawing/2014/main" id="{6E3FB0A4-1F6C-4660-8B1F-1B73B9B0BB5E}"/>
              </a:ext>
            </a:extLst>
          </p:cNvPr>
          <p:cNvSpPr>
            <a:spLocks noGrp="1"/>
          </p:cNvSpPr>
          <p:nvPr>
            <p:ph idx="1"/>
          </p:nvPr>
        </p:nvSpPr>
        <p:spPr>
          <a:xfrm>
            <a:off x="457200" y="1600200"/>
            <a:ext cx="8229600" cy="4525963"/>
          </a:xfrm>
        </p:spPr>
        <p:txBody>
          <a:bodyPr>
            <a:normAutofit/>
          </a:bodyPr>
          <a:lstStyle/>
          <a:p>
            <a:r>
              <a:rPr lang="en-US" sz="2800" dirty="0"/>
              <a:t>Direct Encounter-Based Care</a:t>
            </a:r>
          </a:p>
          <a:p>
            <a:r>
              <a:rPr lang="en-US" sz="2800" dirty="0"/>
              <a:t>“Non-Traditional” Settings: CVS, Home</a:t>
            </a:r>
          </a:p>
          <a:p>
            <a:r>
              <a:rPr lang="en-US" sz="2800" dirty="0"/>
              <a:t>Population Health Management</a:t>
            </a:r>
          </a:p>
          <a:p>
            <a:r>
              <a:rPr lang="en-US" sz="2800" dirty="0" smtClean="0"/>
              <a:t>Healthcare </a:t>
            </a:r>
            <a:r>
              <a:rPr lang="en-US" sz="2800" dirty="0"/>
              <a:t>Administration</a:t>
            </a:r>
          </a:p>
          <a:p>
            <a:r>
              <a:rPr lang="en-US" sz="2800" dirty="0"/>
              <a:t>Patient/Consumer Facing Technologies</a:t>
            </a:r>
          </a:p>
        </p:txBody>
      </p:sp>
    </p:spTree>
    <p:extLst>
      <p:ext uri="{BB962C8B-B14F-4D97-AF65-F5344CB8AC3E}">
        <p14:creationId xmlns:p14="http://schemas.microsoft.com/office/powerpoint/2010/main" val="20152731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7200" y="1211197"/>
            <a:ext cx="8305800" cy="45719"/>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Questions and Discussion</a:t>
            </a:r>
            <a:r>
              <a:rPr lang="en-US" sz="3100" b="1" dirty="0" smtClean="0">
                <a:solidFill>
                  <a:srgbClr val="F15D22"/>
                </a:solidFill>
                <a:cs typeface="Arial" panose="020B0604020202020204" pitchFamily="34" charset="0"/>
              </a:rPr>
              <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Tree>
    <p:extLst>
      <p:ext uri="{BB962C8B-B14F-4D97-AF65-F5344CB8AC3E}">
        <p14:creationId xmlns:p14="http://schemas.microsoft.com/office/powerpoint/2010/main" val="9645098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7200" y="1211197"/>
            <a:ext cx="8305800" cy="45719"/>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AI: What do we mean?</a:t>
            </a:r>
            <a:r>
              <a:rPr lang="en-US" sz="3100" b="1" dirty="0" smtClean="0">
                <a:solidFill>
                  <a:srgbClr val="F15D22"/>
                </a:solidFill>
                <a:cs typeface="Arial" panose="020B0604020202020204" pitchFamily="34" charset="0"/>
              </a:rPr>
              <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pic>
        <p:nvPicPr>
          <p:cNvPr id="9" name="Content Placeholder 4">
            <a:extLst>
              <a:ext uri="{FF2B5EF4-FFF2-40B4-BE49-F238E27FC236}">
                <a16:creationId xmlns:a16="http://schemas.microsoft.com/office/drawing/2014/main" id="{745E2453-32FA-4FB9-8292-569CFEC51D3C}"/>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218634" y="1295400"/>
            <a:ext cx="8706732" cy="4267200"/>
          </a:xfrm>
        </p:spPr>
      </p:pic>
      <p:sp>
        <p:nvSpPr>
          <p:cNvPr id="14" name="TextBox 13">
            <a:extLst>
              <a:ext uri="{FF2B5EF4-FFF2-40B4-BE49-F238E27FC236}">
                <a16:creationId xmlns:a16="http://schemas.microsoft.com/office/drawing/2014/main" id="{4202EF77-1F7D-4F30-ACDA-AD8C8D93F58C}"/>
              </a:ext>
            </a:extLst>
          </p:cNvPr>
          <p:cNvSpPr txBox="1"/>
          <p:nvPr/>
        </p:nvSpPr>
        <p:spPr>
          <a:xfrm>
            <a:off x="278423" y="6136220"/>
            <a:ext cx="8382000" cy="307777"/>
          </a:xfrm>
          <a:prstGeom prst="rect">
            <a:avLst/>
          </a:prstGeom>
          <a:noFill/>
        </p:spPr>
        <p:txBody>
          <a:bodyPr wrap="square" rtlCol="0">
            <a:spAutoFit/>
          </a:bodyPr>
          <a:lstStyle/>
          <a:p>
            <a:r>
              <a:rPr lang="en-US" sz="1400" dirty="0"/>
              <a:t>https://www.legaltechnology.com/latest-news/artificial-intelligence-in-law-the-state-of-play-in-2015/</a:t>
            </a:r>
          </a:p>
        </p:txBody>
      </p:sp>
    </p:spTree>
    <p:extLst>
      <p:ext uri="{BB962C8B-B14F-4D97-AF65-F5344CB8AC3E}">
        <p14:creationId xmlns:p14="http://schemas.microsoft.com/office/powerpoint/2010/main" val="36097318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9028" t="32659" r="6713" b="39236"/>
          <a:stretch/>
        </p:blipFill>
        <p:spPr>
          <a:xfrm>
            <a:off x="6019800" y="6469446"/>
            <a:ext cx="3048000" cy="338892"/>
          </a:xfrm>
          <a:prstGeom prst="rect">
            <a:avLst/>
          </a:prstGeom>
        </p:spPr>
      </p:pic>
      <p:grpSp>
        <p:nvGrpSpPr>
          <p:cNvPr id="11" name="Group 10"/>
          <p:cNvGrpSpPr/>
          <p:nvPr/>
        </p:nvGrpSpPr>
        <p:grpSpPr>
          <a:xfrm>
            <a:off x="278423" y="6469446"/>
            <a:ext cx="2769577" cy="333030"/>
            <a:chOff x="838200" y="6403076"/>
            <a:chExt cx="3429000" cy="381000"/>
          </a:xfrm>
        </p:grpSpPr>
        <p:sp>
          <p:nvSpPr>
            <p:cNvPr id="12" name="TextBox 11"/>
            <p:cNvSpPr txBox="1"/>
            <p:nvPr/>
          </p:nvSpPr>
          <p:spPr>
            <a:xfrm>
              <a:off x="1295400" y="6403076"/>
              <a:ext cx="2971800" cy="381000"/>
            </a:xfrm>
            <a:prstGeom prst="rect">
              <a:avLst/>
            </a:prstGeom>
            <a:noFill/>
          </p:spPr>
          <p:txBody>
            <a:bodyPr wrap="square" rtlCol="0">
              <a:spAutoFit/>
            </a:bodyPr>
            <a:lstStyle/>
            <a:p>
              <a:r>
                <a:rPr lang="en-US" b="1" dirty="0">
                  <a:solidFill>
                    <a:srgbClr val="00B0F0"/>
                  </a:solidFill>
                  <a:latin typeface="Arial" panose="020B0604020202020204" pitchFamily="34" charset="0"/>
                  <a:cs typeface="Arial" panose="020B0604020202020204" pitchFamily="34" charset="0"/>
                </a:rPr>
                <a:t>@</a:t>
              </a:r>
              <a:r>
                <a:rPr lang="en-US" b="1" dirty="0" err="1">
                  <a:solidFill>
                    <a:srgbClr val="00B0F0"/>
                  </a:solidFill>
                  <a:latin typeface="Arial" panose="020B0604020202020204" pitchFamily="34" charset="0"/>
                  <a:cs typeface="Arial" panose="020B0604020202020204" pitchFamily="34" charset="0"/>
                </a:rPr>
                <a:t>theNAMedicine</a:t>
              </a:r>
              <a:endParaRPr lang="en-US" b="1" dirty="0">
                <a:solidFill>
                  <a:srgbClr val="00B0F0"/>
                </a:solidFill>
                <a:latin typeface="Arial" panose="020B0604020202020204" pitchFamily="34" charset="0"/>
                <a:cs typeface="Arial" panose="020B0604020202020204" pitchFamily="34" charset="0"/>
              </a:endParaRPr>
            </a:p>
          </p:txBody>
        </p:sp>
        <p:pic>
          <p:nvPicPr>
            <p:cNvPr id="13" name="Picture 2" descr="http://cdn.theatlantic.com/static/mt/assets/science/twitter-bird-blue-on-white-615_edited-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6447241"/>
              <a:ext cx="690135" cy="32767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itle 1"/>
          <p:cNvSpPr>
            <a:spLocks noGrp="1"/>
          </p:cNvSpPr>
          <p:nvPr>
            <p:ph type="title"/>
          </p:nvPr>
        </p:nvSpPr>
        <p:spPr>
          <a:xfrm>
            <a:off x="456020" y="457200"/>
            <a:ext cx="8305800" cy="715962"/>
          </a:xfrm>
        </p:spPr>
        <p:txBody>
          <a:bodyPr>
            <a:normAutofit fontScale="90000"/>
          </a:bodyPr>
          <a:lstStyle/>
          <a:p>
            <a:pPr lvl="1" algn="ctr" rtl="0">
              <a:spcBef>
                <a:spcPct val="0"/>
              </a:spcBef>
            </a:pPr>
            <a:r>
              <a:rPr lang="en-US" sz="4000" b="1" dirty="0" smtClean="0">
                <a:solidFill>
                  <a:srgbClr val="F15D22"/>
                </a:solidFill>
                <a:cs typeface="Arial" panose="020B0604020202020204" pitchFamily="34" charset="0"/>
              </a:rPr>
              <a:t/>
            </a:r>
            <a:br>
              <a:rPr lang="en-US" sz="4000" b="1" dirty="0" smtClean="0">
                <a:solidFill>
                  <a:srgbClr val="F15D22"/>
                </a:solidFill>
                <a:cs typeface="Arial" panose="020B0604020202020204" pitchFamily="34" charset="0"/>
              </a:rPr>
            </a:br>
            <a:r>
              <a:rPr lang="en-US" sz="3100" b="1" dirty="0" smtClean="0">
                <a:solidFill>
                  <a:srgbClr val="F15D22"/>
                </a:solidFill>
                <a:cs typeface="Arial" panose="020B0604020202020204" pitchFamily="34" charset="0"/>
              </a:rPr>
              <a:t>Publication: Target Audiences</a:t>
            </a:r>
            <a:br>
              <a:rPr lang="en-US" sz="3100" b="1" dirty="0" smtClean="0">
                <a:solidFill>
                  <a:srgbClr val="F15D22"/>
                </a:solidFill>
                <a:cs typeface="Arial" panose="020B0604020202020204" pitchFamily="34" charset="0"/>
              </a:rPr>
            </a:br>
            <a:r>
              <a:rPr lang="en-US" sz="3100" dirty="0" smtClean="0">
                <a:solidFill>
                  <a:srgbClr val="F15D22"/>
                </a:solidFill>
                <a:latin typeface="Garamond" panose="02020404030301010803" pitchFamily="18" charset="0"/>
              </a:rPr>
              <a:t/>
            </a:r>
            <a:br>
              <a:rPr lang="en-US" sz="3100" dirty="0" smtClean="0">
                <a:solidFill>
                  <a:srgbClr val="F15D22"/>
                </a:solidFill>
                <a:latin typeface="Garamond" panose="02020404030301010803" pitchFamily="18" charset="0"/>
              </a:rPr>
            </a:br>
            <a:endParaRPr lang="en-US" sz="3100" dirty="0"/>
          </a:p>
        </p:txBody>
      </p:sp>
      <p:sp>
        <p:nvSpPr>
          <p:cNvPr id="9" name="Content Placeholder 2">
            <a:extLst>
              <a:ext uri="{FF2B5EF4-FFF2-40B4-BE49-F238E27FC236}">
                <a16:creationId xmlns:a16="http://schemas.microsoft.com/office/drawing/2014/main" id="{6E3FB0A4-1F6C-4660-8B1F-1B73B9B0BB5E}"/>
              </a:ext>
            </a:extLst>
          </p:cNvPr>
          <p:cNvSpPr>
            <a:spLocks noGrp="1"/>
          </p:cNvSpPr>
          <p:nvPr>
            <p:ph idx="1"/>
          </p:nvPr>
        </p:nvSpPr>
        <p:spPr>
          <a:xfrm>
            <a:off x="457200" y="1600200"/>
            <a:ext cx="8229600" cy="4525963"/>
          </a:xfrm>
        </p:spPr>
        <p:txBody>
          <a:bodyPr>
            <a:normAutofit/>
          </a:bodyPr>
          <a:lstStyle/>
          <a:p>
            <a:r>
              <a:rPr lang="en-US" sz="2800" dirty="0"/>
              <a:t>Direct Care Providers</a:t>
            </a:r>
          </a:p>
          <a:p>
            <a:r>
              <a:rPr lang="en-US" sz="2800" dirty="0"/>
              <a:t>Patients &amp;</a:t>
            </a:r>
            <a:r>
              <a:rPr lang="en-US" sz="2800" dirty="0" smtClean="0"/>
              <a:t> </a:t>
            </a:r>
            <a:r>
              <a:rPr lang="en-US" sz="2800" dirty="0"/>
              <a:t>their Caregivers</a:t>
            </a:r>
          </a:p>
          <a:p>
            <a:r>
              <a:rPr lang="en-US" sz="2800" dirty="0"/>
              <a:t>Healthcare System Leadership &amp; Admin</a:t>
            </a:r>
          </a:p>
          <a:p>
            <a:r>
              <a:rPr lang="en-US" sz="2800" dirty="0"/>
              <a:t>Data Scientists (Developers)</a:t>
            </a:r>
          </a:p>
          <a:p>
            <a:r>
              <a:rPr lang="en-US" sz="2800" dirty="0"/>
              <a:t>Clinical Informatics (Implementers)</a:t>
            </a:r>
          </a:p>
          <a:p>
            <a:r>
              <a:rPr lang="en-US" sz="2800" dirty="0"/>
              <a:t>Legislative &amp; Regulatory Bodies</a:t>
            </a:r>
          </a:p>
          <a:p>
            <a:r>
              <a:rPr lang="en-US" sz="2800" dirty="0"/>
              <a:t>Third Party Payors</a:t>
            </a:r>
          </a:p>
        </p:txBody>
      </p:sp>
    </p:spTree>
    <p:extLst>
      <p:ext uri="{BB962C8B-B14F-4D97-AF65-F5344CB8AC3E}">
        <p14:creationId xmlns:p14="http://schemas.microsoft.com/office/powerpoint/2010/main" val="19109471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717</TotalTime>
  <Words>836</Words>
  <Application>Microsoft Office PowerPoint</Application>
  <PresentationFormat>On-screen Show (4:3)</PresentationFormat>
  <Paragraphs>124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Garamond</vt:lpstr>
      <vt:lpstr>Wingdings</vt:lpstr>
      <vt:lpstr>Office Theme</vt:lpstr>
      <vt:lpstr>   AI and the Future of Continuous Health Learning &amp; Improvement:  A publication of the NAM Digital Learning  Collaborative</vt:lpstr>
      <vt:lpstr> DLC meeting – November 30, 2017  </vt:lpstr>
      <vt:lpstr> Working Group  </vt:lpstr>
      <vt:lpstr> Working Group: Membership  </vt:lpstr>
      <vt:lpstr> Publication: Overview  </vt:lpstr>
      <vt:lpstr> Publication: Organization  </vt:lpstr>
      <vt:lpstr> Publication: Scope  </vt:lpstr>
      <vt:lpstr>Questions and Discussion  </vt:lpstr>
      <vt:lpstr>AI: What do we mean?  </vt:lpstr>
      <vt:lpstr> Publication: Target Audiences  </vt:lpstr>
    </vt:vector>
  </TitlesOfParts>
  <Company>The National Academies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Whicher, Danielle</cp:lastModifiedBy>
  <cp:revision>35</cp:revision>
  <cp:lastPrinted>2016-11-21T21:41:28Z</cp:lastPrinted>
  <dcterms:created xsi:type="dcterms:W3CDTF">2016-11-21T19:27:14Z</dcterms:created>
  <dcterms:modified xsi:type="dcterms:W3CDTF">2019-08-28T17:58:25Z</dcterms:modified>
</cp:coreProperties>
</file>